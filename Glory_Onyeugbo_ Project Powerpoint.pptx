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34"/>
  </p:notesMasterIdLst>
  <p:sldIdLst>
    <p:sldId id="256" r:id="rId5"/>
    <p:sldId id="257" r:id="rId6"/>
    <p:sldId id="286" r:id="rId7"/>
    <p:sldId id="265" r:id="rId8"/>
    <p:sldId id="266" r:id="rId9"/>
    <p:sldId id="260" r:id="rId10"/>
    <p:sldId id="272" r:id="rId11"/>
    <p:sldId id="259" r:id="rId12"/>
    <p:sldId id="269" r:id="rId13"/>
    <p:sldId id="261" r:id="rId14"/>
    <p:sldId id="274" r:id="rId15"/>
    <p:sldId id="275" r:id="rId16"/>
    <p:sldId id="271" r:id="rId17"/>
    <p:sldId id="267" r:id="rId18"/>
    <p:sldId id="277" r:id="rId19"/>
    <p:sldId id="278" r:id="rId20"/>
    <p:sldId id="273" r:id="rId21"/>
    <p:sldId id="276" r:id="rId22"/>
    <p:sldId id="291" r:id="rId23"/>
    <p:sldId id="282" r:id="rId24"/>
    <p:sldId id="279" r:id="rId25"/>
    <p:sldId id="287" r:id="rId26"/>
    <p:sldId id="288" r:id="rId27"/>
    <p:sldId id="280" r:id="rId28"/>
    <p:sldId id="281" r:id="rId29"/>
    <p:sldId id="283" r:id="rId30"/>
    <p:sldId id="290" r:id="rId31"/>
    <p:sldId id="284" r:id="rId32"/>
    <p:sldId id="285" r:id="rId3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3.fntdata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1.fntdata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lory Onyeugbo" userId="97299632f2a7f9af" providerId="LiveId" clId="{326B47EC-E4AB-417F-B804-3C39C980E15D}"/>
    <pc:docChg chg="modSld">
      <pc:chgData name="Glory Onyeugbo" userId="97299632f2a7f9af" providerId="LiveId" clId="{326B47EC-E4AB-417F-B804-3C39C980E15D}" dt="2024-06-04T02:20:56.490" v="5" actId="20577"/>
      <pc:docMkLst>
        <pc:docMk/>
      </pc:docMkLst>
      <pc:sldChg chg="modSp mod">
        <pc:chgData name="Glory Onyeugbo" userId="97299632f2a7f9af" providerId="LiveId" clId="{326B47EC-E4AB-417F-B804-3C39C980E15D}" dt="2024-06-04T02:20:56.490" v="5" actId="20577"/>
        <pc:sldMkLst>
          <pc:docMk/>
          <pc:sldMk cId="166835117" sldId="282"/>
        </pc:sldMkLst>
        <pc:spChg chg="mod">
          <ac:chgData name="Glory Onyeugbo" userId="97299632f2a7f9af" providerId="LiveId" clId="{326B47EC-E4AB-417F-B804-3C39C980E15D}" dt="2024-06-04T02:20:56.490" v="5" actId="20577"/>
          <ac:spMkLst>
            <pc:docMk/>
            <pc:sldMk cId="166835117" sldId="282"/>
            <ac:spMk id="2" creationId="{DCFCB853-938B-47E6-B800-04F51B1C90D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d8a0a5cef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d8a0a5cef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cs typeface="Calibri"/>
              </a:rPr>
              <a:t>Predicting an individual's risk of experiencing a stroke has become a research topic for many authors worldwide because it is a common disease with strong evidence that early detection of the risk can help with prevention and treatment. We are looking at the diagnostic and demographic factors that predict stroke risk</a:t>
            </a:r>
          </a:p>
        </p:txBody>
      </p:sp>
    </p:spTree>
    <p:extLst>
      <p:ext uri="{BB962C8B-B14F-4D97-AF65-F5344CB8AC3E}">
        <p14:creationId xmlns:p14="http://schemas.microsoft.com/office/powerpoint/2010/main" val="3128257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c6f9e470d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c6f9e470d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c6f9e470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c6f9e470d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c6f9e470d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c6f9e470d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journal.frontiersin.org/article/10.3389/fnhum.2015.00394/full" TargetMode="Externa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2021 Stroke Prediction </a:t>
            </a: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Marriah Lewis and Glory Onyeugbo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IST 707 Data Mining Project </a:t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0401" y="1958536"/>
            <a:ext cx="2457450" cy="2781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SzPts val="1800"/>
              <a:buFont typeface="Wingdings"/>
              <a:buChar char="§"/>
            </a:pPr>
            <a:r>
              <a:rPr lang="en"/>
              <a:t>When a blood vessel carrying oxygen and nutrients to the brain is either blocked by a clot or bursts, a stroke occurs. </a:t>
            </a:r>
            <a:endParaRPr lang="en-US"/>
          </a:p>
          <a:p>
            <a:pPr>
              <a:buFont typeface="Wingdings"/>
              <a:buChar char="§"/>
            </a:pPr>
            <a:r>
              <a:rPr lang="en"/>
              <a:t>Stroke is the No. 5 cause of death and leading cause of disability in the United States. </a:t>
            </a:r>
            <a:endParaRPr/>
          </a:p>
          <a:p>
            <a:pPr>
              <a:buFont typeface="Wingdings"/>
              <a:buChar char="§"/>
            </a:pPr>
            <a:r>
              <a:rPr lang="en"/>
              <a:t>Up to 80% of second clot-related strokes can be avoided. There is strong evidence that high glucose levels can contribute to stroke. </a:t>
            </a:r>
          </a:p>
          <a:p>
            <a:pPr>
              <a:lnSpc>
                <a:spcPct val="114999"/>
              </a:lnSpc>
              <a:buFont typeface="Wingdings"/>
              <a:buChar char="§"/>
            </a:pPr>
            <a:r>
              <a:rPr lang="en"/>
              <a:t>Symptoms of stroke include trouble speaking and understanding, paralysis or numbness, lack of sight, headache, trouble walking.</a:t>
            </a:r>
            <a:br>
              <a:rPr lang="en"/>
            </a:br>
            <a:endParaRPr lang="en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Signs of Stroke | Stroke is the fifth leading cause of ...">
            <a:extLst>
              <a:ext uri="{FF2B5EF4-FFF2-40B4-BE49-F238E27FC236}">
                <a16:creationId xmlns:a16="http://schemas.microsoft.com/office/drawing/2014/main" id="{BF94CC6A-5019-4FC6-9FC5-FA851483A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83" y="346950"/>
            <a:ext cx="4425349" cy="4449597"/>
          </a:xfrm>
          <a:prstGeom prst="rect">
            <a:avLst/>
          </a:prstGeom>
        </p:spPr>
      </p:pic>
      <p:sp>
        <p:nvSpPr>
          <p:cNvPr id="6" name="Callout: Line with No Border 5">
            <a:extLst>
              <a:ext uri="{FF2B5EF4-FFF2-40B4-BE49-F238E27FC236}">
                <a16:creationId xmlns:a16="http://schemas.microsoft.com/office/drawing/2014/main" id="{26AE90F9-228A-4F15-949E-E5F3F247211D}"/>
              </a:ext>
            </a:extLst>
          </p:cNvPr>
          <p:cNvSpPr/>
          <p:nvPr/>
        </p:nvSpPr>
        <p:spPr>
          <a:xfrm>
            <a:off x="5681034" y="337961"/>
            <a:ext cx="2383046" cy="1887028"/>
          </a:xfrm>
          <a:prstGeom prst="callout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027560-B35D-4F44-8985-96E70A864A51}"/>
              </a:ext>
            </a:extLst>
          </p:cNvPr>
          <p:cNvSpPr txBox="1"/>
          <p:nvPr/>
        </p:nvSpPr>
        <p:spPr>
          <a:xfrm>
            <a:off x="5847631" y="590909"/>
            <a:ext cx="1966823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har char="•"/>
            </a:pPr>
            <a:r>
              <a:rPr lang="en-US" b="1">
                <a:solidFill>
                  <a:schemeClr val="bg1"/>
                </a:solidFill>
                <a:latin typeface="Roboto"/>
                <a:ea typeface="Roboto"/>
              </a:rPr>
              <a:t>Who does stroke affect?</a:t>
            </a:r>
          </a:p>
          <a:p>
            <a:pPr marL="342900" indent="-342900">
              <a:buChar char="•"/>
            </a:pPr>
            <a:r>
              <a:rPr lang="en-US" b="1">
                <a:solidFill>
                  <a:schemeClr val="bg1"/>
                </a:solidFill>
                <a:latin typeface="Roboto"/>
                <a:ea typeface="Roboto"/>
              </a:rPr>
              <a:t>Can patients avoid having a stroke? </a:t>
            </a:r>
          </a:p>
          <a:p>
            <a:pPr marL="342900" indent="-342900" algn="l">
              <a:buChar char="•"/>
            </a:pPr>
            <a:endParaRPr lang="en-US"/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D347992E-5426-4257-B2D3-27887B57AA77}"/>
              </a:ext>
            </a:extLst>
          </p:cNvPr>
          <p:cNvSpPr/>
          <p:nvPr/>
        </p:nvSpPr>
        <p:spPr>
          <a:xfrm>
            <a:off x="5678338" y="2610483"/>
            <a:ext cx="2383046" cy="1887027"/>
          </a:xfrm>
          <a:prstGeom prst="borderCallout1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6C179C-45E2-45BC-8E34-642453F774D7}"/>
              </a:ext>
            </a:extLst>
          </p:cNvPr>
          <p:cNvSpPr txBox="1"/>
          <p:nvPr/>
        </p:nvSpPr>
        <p:spPr>
          <a:xfrm>
            <a:off x="5726322" y="2690903"/>
            <a:ext cx="2214832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b="1">
                <a:solidFill>
                  <a:schemeClr val="tx1"/>
                </a:solidFill>
                <a:latin typeface="Roboto"/>
              </a:rPr>
              <a:t>Can we make predictions based on medical history?</a:t>
            </a:r>
          </a:p>
          <a:p>
            <a:pPr marL="285750" indent="-285750">
              <a:buChar char="•"/>
            </a:pPr>
            <a:endParaRPr lang="en-US" b="1">
              <a:solidFill>
                <a:schemeClr val="tx1"/>
              </a:solidFill>
              <a:latin typeface="Roboto"/>
            </a:endParaRPr>
          </a:p>
          <a:p>
            <a:pPr marL="285750" indent="-285750">
              <a:buChar char="•"/>
            </a:pPr>
            <a:r>
              <a:rPr lang="en-US" b="1">
                <a:solidFill>
                  <a:schemeClr val="tx1"/>
                </a:solidFill>
                <a:latin typeface="Roboto"/>
              </a:rPr>
              <a:t>Can machine learning help? If so, in what way?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endParaRPr lang="en-US" b="1">
              <a:solidFill>
                <a:schemeClr val="tx1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738169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FC18A-8CAE-4C8E-B0F7-003318AD5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 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B41948-5A18-4D6E-B9B8-0B2FF3A61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00050" indent="-285750">
              <a:buFont typeface="Wingdings"/>
              <a:buChar char="§"/>
            </a:pPr>
            <a:r>
              <a:rPr lang="en-US"/>
              <a:t>Goal: Create a model to predict whether target patients had a stroke based on attribute subset. </a:t>
            </a:r>
            <a:br>
              <a:rPr lang="en-US" dirty="0"/>
            </a:br>
            <a:endParaRPr lang="en-US" dirty="0"/>
          </a:p>
          <a:p>
            <a:pPr marL="400050" indent="-285750">
              <a:lnSpc>
                <a:spcPct val="114999"/>
              </a:lnSpc>
              <a:buFont typeface="Wingdings"/>
              <a:buChar char="§"/>
            </a:pPr>
            <a:r>
              <a:rPr lang="en-US"/>
              <a:t>Some stroke risk factors are gender, age, and family history. </a:t>
            </a:r>
            <a:br>
              <a:rPr lang="en-US" dirty="0"/>
            </a:br>
            <a:endParaRPr lang="en-US"/>
          </a:p>
          <a:p>
            <a:pPr marL="400050" indent="-285750">
              <a:lnSpc>
                <a:spcPct val="114999"/>
              </a:lnSpc>
              <a:buFont typeface="Wingdings"/>
              <a:buChar char="§"/>
            </a:pPr>
            <a:r>
              <a:rPr lang="en-US"/>
              <a:t>Lifestyle factors that can increase the risk of stroke are smoking, high glucose levels, poor diet, and lack of exercise.</a:t>
            </a:r>
          </a:p>
        </p:txBody>
      </p:sp>
    </p:spTree>
    <p:extLst>
      <p:ext uri="{BB962C8B-B14F-4D97-AF65-F5344CB8AC3E}">
        <p14:creationId xmlns:p14="http://schemas.microsoft.com/office/powerpoint/2010/main" val="1359013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42EAB-D3E9-47A3-A90B-3393451D2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0E8E8-21CD-4D07-A697-FB7D11B27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/>
              <a:buChar char="q"/>
            </a:pPr>
            <a:r>
              <a:rPr lang="en-US"/>
              <a:t>The problem can be defined as follows: Determine whether a patient will have a stroke using historical medical information. This problem can be seen as a binary classification problem. </a:t>
            </a:r>
          </a:p>
        </p:txBody>
      </p:sp>
    </p:spTree>
    <p:extLst>
      <p:ext uri="{BB962C8B-B14F-4D97-AF65-F5344CB8AC3E}">
        <p14:creationId xmlns:p14="http://schemas.microsoft.com/office/powerpoint/2010/main" val="3988512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</a:p>
        </p:txBody>
      </p:sp>
      <p:pic>
        <p:nvPicPr>
          <p:cNvPr id="2" name="Picture 2" descr="Chart, histogram&#10;&#10;Description automatically generated">
            <a:extLst>
              <a:ext uri="{FF2B5EF4-FFF2-40B4-BE49-F238E27FC236}">
                <a16:creationId xmlns:a16="http://schemas.microsoft.com/office/drawing/2014/main" id="{092942D7-FFED-40E0-86BF-105C1D1B3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458" y="944891"/>
            <a:ext cx="4339085" cy="29302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6EA7EA89-35E2-43F2-A8EE-42A59B3B9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853724"/>
              </p:ext>
            </p:extLst>
          </p:nvPr>
        </p:nvGraphicFramePr>
        <p:xfrm>
          <a:off x="280358" y="0"/>
          <a:ext cx="8337399" cy="4345551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779133">
                  <a:extLst>
                    <a:ext uri="{9D8B030D-6E8A-4147-A177-3AD203B41FA5}">
                      <a16:colId xmlns:a16="http://schemas.microsoft.com/office/drawing/2014/main" val="1582363370"/>
                    </a:ext>
                  </a:extLst>
                </a:gridCol>
                <a:gridCol w="2779133">
                  <a:extLst>
                    <a:ext uri="{9D8B030D-6E8A-4147-A177-3AD203B41FA5}">
                      <a16:colId xmlns:a16="http://schemas.microsoft.com/office/drawing/2014/main" val="3872836863"/>
                    </a:ext>
                  </a:extLst>
                </a:gridCol>
                <a:gridCol w="2779133">
                  <a:extLst>
                    <a:ext uri="{9D8B030D-6E8A-4147-A177-3AD203B41FA5}">
                      <a16:colId xmlns:a16="http://schemas.microsoft.com/office/drawing/2014/main" val="2524729896"/>
                    </a:ext>
                  </a:extLst>
                </a:gridCol>
              </a:tblGrid>
              <a:tr h="50760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Data Type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32796"/>
                  </a:ext>
                </a:extLst>
              </a:tr>
              <a:tr h="50760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Patient's gender: "Male", "Female", or "Other"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650277"/>
                  </a:ext>
                </a:extLst>
              </a:tr>
              <a:tr h="619025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ordinal factor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Age of the Patient: </a:t>
                      </a:r>
                      <a:r>
                        <a:rPr lang="en-US" sz="1000" b="0" i="0" u="none" strike="noStrike" noProof="0">
                          <a:latin typeface="Arial"/>
                        </a:rPr>
                        <a:t>"child", "teens", "twenties", "thirties", "forties", "fifties", "sixties", "seventies", "eighties"</a:t>
                      </a:r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617418"/>
                  </a:ext>
                </a:extLst>
              </a:tr>
              <a:tr h="730449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hypertension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noProof="0"/>
                        <a:t>0: patient does not have hypertension, 1:the patient has hypertension</a:t>
                      </a:r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705871"/>
                  </a:ext>
                </a:extLst>
              </a:tr>
              <a:tr h="730449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heart_disease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noProof="0"/>
                        <a:t>0: patient does not have any heart diseases, 1: patient has a heart disease</a:t>
                      </a:r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448404"/>
                  </a:ext>
                </a:extLst>
              </a:tr>
              <a:tr h="35903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avg_glucose_level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numeric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Patient's average glucose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197163"/>
                  </a:ext>
                </a:extLst>
              </a:tr>
              <a:tr h="44569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smoking_status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noProof="0"/>
                        <a:t>"formerly smoked", "never smoked", "smokes", or "Unknown"</a:t>
                      </a:r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979992"/>
                  </a:ext>
                </a:extLst>
              </a:tr>
              <a:tr h="44569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stroke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noProof="0"/>
                        <a:t>1: patient had a stroke or 0: patient has not had a stroke</a:t>
                      </a:r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598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943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Data Cleaning </a:t>
            </a:r>
          </a:p>
        </p:txBody>
      </p:sp>
      <p:sp>
        <p:nvSpPr>
          <p:cNvPr id="118" name="Google Shape;118;p16"/>
          <p:cNvSpPr/>
          <p:nvPr/>
        </p:nvSpPr>
        <p:spPr>
          <a:xfrm>
            <a:off x="432350" y="1304875"/>
            <a:ext cx="2469300" cy="6078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body" idx="4294967295"/>
          </p:nvPr>
        </p:nvSpPr>
        <p:spPr>
          <a:xfrm>
            <a:off x="432350" y="1451576"/>
            <a:ext cx="2257200" cy="3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" sz="1400">
                <a:solidFill>
                  <a:schemeClr val="lt1"/>
                </a:solidFill>
              </a:rPr>
              <a:t>Check for duplicates</a:t>
            </a:r>
            <a:endParaRPr lang="en-US" sz="1400">
              <a:solidFill>
                <a:schemeClr val="lt1"/>
              </a:solidFill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3044777" y="1304875"/>
            <a:ext cx="2760600" cy="607800"/>
          </a:xfrm>
          <a:prstGeom prst="chevron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4294967295"/>
          </p:nvPr>
        </p:nvSpPr>
        <p:spPr>
          <a:xfrm>
            <a:off x="3336150" y="1376095"/>
            <a:ext cx="2257200" cy="46536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" sz="1400">
                <a:solidFill>
                  <a:schemeClr val="lt1"/>
                </a:solidFill>
              </a:rPr>
              <a:t>Replaces N/A and remove unnecessary </a:t>
            </a:r>
            <a:r>
              <a:rPr lang="en" sz="1400" dirty="0">
                <a:solidFill>
                  <a:schemeClr val="lt1"/>
                </a:solidFill>
              </a:rPr>
              <a:t>columns</a:t>
            </a:r>
            <a:endParaRPr sz="1400" dirty="0">
              <a:solidFill>
                <a:schemeClr val="lt1"/>
              </a:solidFill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5948502" y="1304875"/>
            <a:ext cx="2760600" cy="607800"/>
          </a:xfrm>
          <a:prstGeom prst="chevron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body" idx="4294967295"/>
          </p:nvPr>
        </p:nvSpPr>
        <p:spPr>
          <a:xfrm>
            <a:off x="6254233" y="1451576"/>
            <a:ext cx="2257200" cy="3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" sz="1400">
                <a:solidFill>
                  <a:schemeClr val="lt1"/>
                </a:solidFill>
              </a:rPr>
              <a:t>Convert datatypes 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7DCAB729-CEE4-44CA-B8B3-816AF07C250A}"/>
              </a:ext>
            </a:extLst>
          </p:cNvPr>
          <p:cNvSpPr/>
          <p:nvPr/>
        </p:nvSpPr>
        <p:spPr>
          <a:xfrm>
            <a:off x="3405817" y="2343603"/>
            <a:ext cx="2048772" cy="252322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solidFill>
                  <a:schemeClr val="bg1"/>
                </a:solidFill>
                <a:cs typeface="Arial"/>
              </a:rPr>
              <a:t>Recoding variables </a:t>
            </a:r>
          </a:p>
          <a:p>
            <a:pPr algn="ctr"/>
            <a:r>
              <a:rPr lang="en-US" sz="1800">
                <a:solidFill>
                  <a:schemeClr val="bg1"/>
                </a:solidFill>
                <a:cs typeface="Arial"/>
              </a:rPr>
              <a:t>Discretize Age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D5849B8F-65FE-470A-BEBF-5C0A933523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60" t="18483" r="48000" b="11374"/>
          <a:stretch/>
        </p:blipFill>
        <p:spPr>
          <a:xfrm>
            <a:off x="0" y="-163"/>
            <a:ext cx="4651861" cy="3880764"/>
          </a:xfrm>
          <a:prstGeom prst="rect">
            <a:avLst/>
          </a:prstGeom>
        </p:spPr>
      </p:pic>
      <p:pic>
        <p:nvPicPr>
          <p:cNvPr id="5" name="Picture 5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35AB54C2-AEDE-49D1-9E0B-056499E1FD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61" t="20582" r="46248" b="24324"/>
          <a:stretch/>
        </p:blipFill>
        <p:spPr>
          <a:xfrm>
            <a:off x="4647481" y="204715"/>
            <a:ext cx="4362763" cy="28625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70F472-0855-46BB-B412-1B14AB4A5038}"/>
              </a:ext>
            </a:extLst>
          </p:cNvPr>
          <p:cNvSpPr txBox="1"/>
          <p:nvPr/>
        </p:nvSpPr>
        <p:spPr>
          <a:xfrm rot="3420000">
            <a:off x="6985240" y="1081536"/>
            <a:ext cx="274320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Cleaning R Code </a:t>
            </a:r>
          </a:p>
        </p:txBody>
      </p:sp>
      <p:pic>
        <p:nvPicPr>
          <p:cNvPr id="6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FD00FEC2-6B5C-4964-9604-C83C979F722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14" t="14583" r="26667" b="62500"/>
          <a:stretch/>
        </p:blipFill>
        <p:spPr>
          <a:xfrm>
            <a:off x="40976" y="3892506"/>
            <a:ext cx="6217339" cy="117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52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/>
              <a:t>Initial Results from EDA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8D18B-0316-495B-B4AC-6D0E6B9F2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Target Variable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36004-E7C3-483E-A275-81A5626C06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There is a huge class imbalance in this dataset. We will certainly address the imbalance for future models. </a:t>
            </a:r>
          </a:p>
          <a:p>
            <a:pPr>
              <a:lnSpc>
                <a:spcPct val="114999"/>
              </a:lnSpc>
            </a:pPr>
            <a:r>
              <a:rPr lang="en-US"/>
              <a:t>There are 5110 patients in this data set and only 249 suffered a stroke; the other 4,861 have not.</a:t>
            </a:r>
          </a:p>
        </p:txBody>
      </p:sp>
      <p:pic>
        <p:nvPicPr>
          <p:cNvPr id="4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8D5477C2-2D1A-418D-84F2-F72D8AA27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579" y="32344"/>
            <a:ext cx="5805577" cy="511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557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79943-83B3-44E4-9B7C-FF3EBFA5C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 from EDA</a:t>
            </a:r>
          </a:p>
        </p:txBody>
      </p:sp>
      <p:pic>
        <p:nvPicPr>
          <p:cNvPr id="5" name="Picture 5" descr="Chart, bar chart&#10;&#10;Description automatically generated">
            <a:extLst>
              <a:ext uri="{FF2B5EF4-FFF2-40B4-BE49-F238E27FC236}">
                <a16:creationId xmlns:a16="http://schemas.microsoft.com/office/drawing/2014/main" id="{5B667A09-5687-4A0E-9725-3778DDD21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7" y="1089079"/>
            <a:ext cx="4522398" cy="2782030"/>
          </a:xfrm>
          <a:prstGeom prst="rect">
            <a:avLst/>
          </a:prstGeom>
        </p:spPr>
      </p:pic>
      <p:pic>
        <p:nvPicPr>
          <p:cNvPr id="6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D7F9D639-320B-434F-BF15-3072F942D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325" y="1013598"/>
            <a:ext cx="4328303" cy="2674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1ADEA6-77B8-40E9-8C27-69569D8B6806}"/>
              </a:ext>
            </a:extLst>
          </p:cNvPr>
          <p:cNvSpPr txBox="1"/>
          <p:nvPr/>
        </p:nvSpPr>
        <p:spPr>
          <a:xfrm>
            <a:off x="-2157" y="3841990"/>
            <a:ext cx="668978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There are 2994 Females in the data. 141 have suffered from a stroke.</a:t>
            </a:r>
          </a:p>
          <a:p>
            <a:r>
              <a:rPr lang="en-US"/>
              <a:t>There are 2115 Males in the data. 108 have suffered from a stroke.</a:t>
            </a:r>
          </a:p>
          <a:p>
            <a:r>
              <a:rPr lang="en-US"/>
              <a:t>The is only one patient who classifies as other but never had a stroke.</a:t>
            </a:r>
          </a:p>
        </p:txBody>
      </p:sp>
    </p:spTree>
    <p:extLst>
      <p:ext uri="{BB962C8B-B14F-4D97-AF65-F5344CB8AC3E}">
        <p14:creationId xmlns:p14="http://schemas.microsoft.com/office/powerpoint/2010/main" val="3230771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413CC-F7CC-486D-8A31-61A01D035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08" y="245"/>
            <a:ext cx="8520600" cy="607800"/>
          </a:xfrm>
        </p:spPr>
        <p:txBody>
          <a:bodyPr/>
          <a:lstStyle/>
          <a:p>
            <a:r>
              <a:rPr lang="en-US"/>
              <a:t>Results from EDA</a:t>
            </a:r>
          </a:p>
        </p:txBody>
      </p:sp>
      <p:pic>
        <p:nvPicPr>
          <p:cNvPr id="5" name="Picture 5" descr="Chart, bar chart&#10;&#10;Description automatically generated">
            <a:extLst>
              <a:ext uri="{FF2B5EF4-FFF2-40B4-BE49-F238E27FC236}">
                <a16:creationId xmlns:a16="http://schemas.microsoft.com/office/drawing/2014/main" id="{31B0CF9B-E3D4-4BCA-B21A-BFE3AA450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0447" y="765588"/>
            <a:ext cx="4662577" cy="2879078"/>
          </a:xfrm>
          <a:prstGeom prst="rect">
            <a:avLst/>
          </a:prstGeom>
        </p:spPr>
      </p:pic>
      <p:pic>
        <p:nvPicPr>
          <p:cNvPr id="6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070B7B01-7CA3-474E-8B6C-179ABB3C4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57" y="765588"/>
            <a:ext cx="4403784" cy="27173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F06D13-3041-48D9-80E8-22CEB546EE42}"/>
              </a:ext>
            </a:extLst>
          </p:cNvPr>
          <p:cNvSpPr txBox="1"/>
          <p:nvPr/>
        </p:nvSpPr>
        <p:spPr>
          <a:xfrm>
            <a:off x="138022" y="3572414"/>
            <a:ext cx="2807898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507 children; 1 suffered a stroke</a:t>
            </a:r>
          </a:p>
          <a:p>
            <a:r>
              <a:rPr lang="en-US"/>
              <a:t>518 teens; 1 suffered a stroke</a:t>
            </a:r>
          </a:p>
          <a:p>
            <a:r>
              <a:rPr lang="en-US"/>
              <a:t>545 twenties; 0 had a stroke</a:t>
            </a:r>
          </a:p>
          <a:p>
            <a:r>
              <a:rPr lang="en-US"/>
              <a:t>674 thirties; 6 suffered a stroke</a:t>
            </a:r>
          </a:p>
          <a:p>
            <a:r>
              <a:rPr lang="en-US"/>
              <a:t>739 forties; 15 suffered a stroke</a:t>
            </a:r>
          </a:p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FF3108-B014-4DF3-B113-9897A961BA15}"/>
              </a:ext>
            </a:extLst>
          </p:cNvPr>
          <p:cNvSpPr txBox="1"/>
          <p:nvPr/>
        </p:nvSpPr>
        <p:spPr>
          <a:xfrm>
            <a:off x="3313622" y="3567023"/>
            <a:ext cx="274320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823 fifties; 49 suffered a stroke</a:t>
            </a:r>
          </a:p>
          <a:p>
            <a:r>
              <a:rPr lang="en-US"/>
              <a:t>594 sixties; 49 suffered a stroke</a:t>
            </a:r>
          </a:p>
          <a:p>
            <a:r>
              <a:rPr lang="en-US"/>
              <a:t>594 seventies; 105 suffered a stroke</a:t>
            </a:r>
          </a:p>
          <a:p>
            <a:r>
              <a:rPr lang="en-US"/>
              <a:t>116 eighties; 23 suffered a stroke</a:t>
            </a:r>
          </a:p>
        </p:txBody>
      </p:sp>
    </p:spTree>
    <p:extLst>
      <p:ext uri="{BB962C8B-B14F-4D97-AF65-F5344CB8AC3E}">
        <p14:creationId xmlns:p14="http://schemas.microsoft.com/office/powerpoint/2010/main" val="339796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26884-FF44-4AE6-960C-E4AFDC209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08" y="64943"/>
            <a:ext cx="8520600" cy="607800"/>
          </a:xfrm>
        </p:spPr>
        <p:txBody>
          <a:bodyPr/>
          <a:lstStyle/>
          <a:p>
            <a:r>
              <a:rPr lang="en-US"/>
              <a:t>Results from EDA</a:t>
            </a:r>
          </a:p>
        </p:txBody>
      </p:sp>
      <p:pic>
        <p:nvPicPr>
          <p:cNvPr id="6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41D3278F-5370-400D-AAC0-EA05C9E63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022" y="1121428"/>
            <a:ext cx="4436133" cy="2738898"/>
          </a:xfrm>
          <a:prstGeom prst="rect">
            <a:avLst/>
          </a:prstGeom>
        </p:spPr>
      </p:pic>
      <p:pic>
        <p:nvPicPr>
          <p:cNvPr id="7" name="Picture 7" descr="Chart, bar chart&#10;&#10;Description automatically generated">
            <a:extLst>
              <a:ext uri="{FF2B5EF4-FFF2-40B4-BE49-F238E27FC236}">
                <a16:creationId xmlns:a16="http://schemas.microsoft.com/office/drawing/2014/main" id="{4A84A326-5BE2-4629-9F07-F2B8E3B55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57" y="970466"/>
            <a:ext cx="4608662" cy="28467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B29121-FFDC-4055-92D0-428D00470190}"/>
              </a:ext>
            </a:extLst>
          </p:cNvPr>
          <p:cNvSpPr txBox="1"/>
          <p:nvPr/>
        </p:nvSpPr>
        <p:spPr>
          <a:xfrm>
            <a:off x="30192" y="3863556"/>
            <a:ext cx="274320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885 former smokers: 70 strokes</a:t>
            </a:r>
          </a:p>
          <a:p>
            <a:r>
              <a:rPr lang="en-US"/>
              <a:t>1892 never smoked; 90 strokes</a:t>
            </a:r>
          </a:p>
          <a:p>
            <a:r>
              <a:rPr lang="en-US"/>
              <a:t>789  smokers; 42 strokes</a:t>
            </a:r>
          </a:p>
          <a:p>
            <a:r>
              <a:rPr lang="en-US"/>
              <a:t>1544 unknown; 47 strokes</a:t>
            </a:r>
          </a:p>
        </p:txBody>
      </p:sp>
    </p:spTree>
    <p:extLst>
      <p:ext uri="{BB962C8B-B14F-4D97-AF65-F5344CB8AC3E}">
        <p14:creationId xmlns:p14="http://schemas.microsoft.com/office/powerpoint/2010/main" val="3230152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AA4E5-D511-4F03-BE1A-1517DF8BE5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609" y="136204"/>
            <a:ext cx="8222100" cy="1065243"/>
          </a:xfrm>
        </p:spPr>
        <p:txBody>
          <a:bodyPr/>
          <a:lstStyle/>
          <a:p>
            <a:r>
              <a:rPr lang="en-US" sz="3200"/>
              <a:t>Count by heart disease, glucose level, and body mass index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43DCD2-7A5F-4C29-9CAF-435DCBE7031D}"/>
              </a:ext>
            </a:extLst>
          </p:cNvPr>
          <p:cNvSpPr txBox="1"/>
          <p:nvPr/>
        </p:nvSpPr>
        <p:spPr>
          <a:xfrm>
            <a:off x="386032" y="1728518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5" name="Picture 5" descr="Chart, bar chart&#10;&#10;Description automatically generated">
            <a:extLst>
              <a:ext uri="{FF2B5EF4-FFF2-40B4-BE49-F238E27FC236}">
                <a16:creationId xmlns:a16="http://schemas.microsoft.com/office/drawing/2014/main" id="{A6C41526-08B0-4BBD-888F-6600EFFBC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6" y="1244298"/>
            <a:ext cx="2883379" cy="2266716"/>
          </a:xfrm>
          <a:prstGeom prst="rect">
            <a:avLst/>
          </a:prstGeom>
        </p:spPr>
      </p:pic>
      <p:pic>
        <p:nvPicPr>
          <p:cNvPr id="7" name="Picture 7" descr="Chart, bar chart, waterfall chart&#10;&#10;Description automatically generated">
            <a:extLst>
              <a:ext uri="{FF2B5EF4-FFF2-40B4-BE49-F238E27FC236}">
                <a16:creationId xmlns:a16="http://schemas.microsoft.com/office/drawing/2014/main" id="{15E6BB3D-A32F-49EC-8AEE-8E89BB54F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920" y="1248960"/>
            <a:ext cx="2883379" cy="2278956"/>
          </a:xfrm>
          <a:prstGeom prst="rect">
            <a:avLst/>
          </a:prstGeom>
        </p:spPr>
      </p:pic>
      <p:pic>
        <p:nvPicPr>
          <p:cNvPr id="9" name="Picture 9" descr="Chart&#10;&#10;Description automatically generated">
            <a:extLst>
              <a:ext uri="{FF2B5EF4-FFF2-40B4-BE49-F238E27FC236}">
                <a16:creationId xmlns:a16="http://schemas.microsoft.com/office/drawing/2014/main" id="{7D973380-7C20-4DAF-BDAF-999722088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778" y="1241041"/>
            <a:ext cx="2883379" cy="227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678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A4353-8BB4-4A5F-A483-BBC9A5EA0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59063"/>
            <a:ext cx="4045200" cy="2556537"/>
          </a:xfrm>
        </p:spPr>
        <p:txBody>
          <a:bodyPr/>
          <a:lstStyle/>
          <a:p>
            <a:r>
              <a:rPr lang="en-US"/>
              <a:t>Correlation Analysis using the cleaned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26DB95-1F12-4C5D-9D10-ABDEEF554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499" y="3092492"/>
            <a:ext cx="3980502" cy="1743752"/>
          </a:xfrm>
        </p:spPr>
        <p:txBody>
          <a:bodyPr/>
          <a:lstStyle/>
          <a:p>
            <a:pPr marL="400050" indent="-285750" algn="l">
              <a:buFont typeface="Arial"/>
              <a:buChar char="•"/>
            </a:pPr>
            <a:r>
              <a:rPr lang="en-US" sz="1400"/>
              <a:t>Stroke</a:t>
            </a:r>
            <a:endParaRPr lang="en-US"/>
          </a:p>
          <a:p>
            <a:pPr marL="400050" indent="-285750" algn="l">
              <a:buFont typeface="Arial"/>
              <a:buChar char="•"/>
            </a:pPr>
            <a:r>
              <a:rPr lang="en-US" sz="1400"/>
              <a:t>Smoking status</a:t>
            </a:r>
            <a:endParaRPr lang="en-US"/>
          </a:p>
          <a:p>
            <a:pPr marL="400050" indent="-285750" algn="l">
              <a:buFont typeface="Arial"/>
              <a:buChar char="•"/>
            </a:pPr>
            <a:r>
              <a:rPr lang="en-US" sz="1400"/>
              <a:t>Hypertension</a:t>
            </a:r>
          </a:p>
          <a:p>
            <a:pPr marL="400050" indent="-285750" algn="l">
              <a:buFont typeface="Arial"/>
              <a:buChar char="•"/>
            </a:pPr>
            <a:r>
              <a:rPr lang="en-US" sz="1400"/>
              <a:t>Heart disease</a:t>
            </a:r>
            <a:endParaRPr lang="en-US"/>
          </a:p>
          <a:p>
            <a:pPr marL="400050" indent="-285750" algn="l">
              <a:buFont typeface="Arial"/>
              <a:buChar char="•"/>
            </a:pPr>
            <a:r>
              <a:rPr lang="en-US" sz="1400"/>
              <a:t>BMI</a:t>
            </a:r>
            <a:endParaRPr lang="en-US"/>
          </a:p>
          <a:p>
            <a:pPr marL="400050" indent="-285750" algn="l">
              <a:buFont typeface="Arial"/>
              <a:buChar char="•"/>
            </a:pPr>
            <a:r>
              <a:rPr lang="en-US" sz="1400"/>
              <a:t>Average glucose level</a:t>
            </a:r>
            <a:endParaRPr lang="en-US"/>
          </a:p>
          <a:p>
            <a:pPr marL="400050" indent="-285750" algn="l">
              <a:buFont typeface="Arial"/>
              <a:buChar char="•"/>
            </a:pPr>
            <a:r>
              <a:rPr lang="en-US" sz="1400"/>
              <a:t>Age</a:t>
            </a:r>
            <a:endParaRPr lang="en-US"/>
          </a:p>
        </p:txBody>
      </p:sp>
      <p:pic>
        <p:nvPicPr>
          <p:cNvPr id="5" name="Picture 5" descr="Chart&#10;&#10;Description automatically generated">
            <a:extLst>
              <a:ext uri="{FF2B5EF4-FFF2-40B4-BE49-F238E27FC236}">
                <a16:creationId xmlns:a16="http://schemas.microsoft.com/office/drawing/2014/main" id="{20F74CBE-78C6-4557-B70B-E86ABE3B8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155" y="838478"/>
            <a:ext cx="4252821" cy="313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023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EC3B4-6764-4ACD-AE4F-AD8DF83F2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08" y="32594"/>
            <a:ext cx="8520600" cy="607800"/>
          </a:xfrm>
        </p:spPr>
        <p:txBody>
          <a:bodyPr/>
          <a:lstStyle/>
          <a:p>
            <a:r>
              <a:rPr lang="en-US"/>
              <a:t>Average Glucose</a:t>
            </a:r>
          </a:p>
        </p:txBody>
      </p:sp>
      <p:pic>
        <p:nvPicPr>
          <p:cNvPr id="4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11C23EFC-6A75-405B-8814-D40D6ED74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2" y="690107"/>
            <a:ext cx="6959360" cy="430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695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DA3A5-C901-4C19-8832-F9E77C2C5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Models and Analysis</a:t>
            </a:r>
          </a:p>
        </p:txBody>
      </p:sp>
    </p:spTree>
    <p:extLst>
      <p:ext uri="{BB962C8B-B14F-4D97-AF65-F5344CB8AC3E}">
        <p14:creationId xmlns:p14="http://schemas.microsoft.com/office/powerpoint/2010/main" val="4098713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D7A88-B298-4577-B3D0-FBE277FE5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Association Rule Mining</a:t>
            </a:r>
          </a:p>
        </p:txBody>
      </p:sp>
      <p:pic>
        <p:nvPicPr>
          <p:cNvPr id="3" name="Picture 3" descr="Chart, histogram&#10;&#10;Description automatically generated">
            <a:extLst>
              <a:ext uri="{FF2B5EF4-FFF2-40B4-BE49-F238E27FC236}">
                <a16:creationId xmlns:a16="http://schemas.microsoft.com/office/drawing/2014/main" id="{D2E3CB95-B561-402D-94E9-1DE3735E1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730" y="1062360"/>
            <a:ext cx="4932152" cy="379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561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CB853-938B-47E6-B800-04F51B1C9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ARIMA </a:t>
            </a:r>
            <a:r>
              <a:rPr lang="en-US" dirty="0"/>
              <a:t>Rules</a:t>
            </a:r>
          </a:p>
        </p:txBody>
      </p:sp>
      <p:pic>
        <p:nvPicPr>
          <p:cNvPr id="3" name="Picture 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97B489A-FBA2-4F24-BCCC-728825A68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96" y="1453217"/>
            <a:ext cx="5794793" cy="312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351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93A38-33D7-486A-B2DA-63C866FA0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Association Rule Mining 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CB720-A918-4D9D-A96E-8307E7B14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3747" y="960300"/>
            <a:ext cx="2654638" cy="3770320"/>
          </a:xfrm>
        </p:spPr>
        <p:txBody>
          <a:bodyPr/>
          <a:lstStyle/>
          <a:p>
            <a:r>
              <a:rPr lang="en-US" sz="1400"/>
              <a:t>Plot of total rules mined. Many descriptive variables can be seen visually that contribute to target patient with high risk for stroke those whose bmi is moderate, males, age=thirties, seventies,  avg_glucose level= 50-100, 251-300, smokers, and have hypertension. </a:t>
            </a: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35DA91ED-DA8B-4641-9948-468883942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64" y="1010801"/>
            <a:ext cx="4824322" cy="390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32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9FC4-585C-4DCD-966B-685B8B266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84D4F-169B-41DF-AD15-76B1323CA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/>
              <a:t>Problem</a:t>
            </a:r>
          </a:p>
          <a:p>
            <a:pPr>
              <a:lnSpc>
                <a:spcPct val="114999"/>
              </a:lnSpc>
            </a:pPr>
            <a:r>
              <a:rPr lang="en-US"/>
              <a:t>As mentioned before, there is a class imbalance in this data set, i.e., the are many more instances of non-stroke patients than stroke patients.</a:t>
            </a:r>
          </a:p>
          <a:p>
            <a:pPr>
              <a:lnSpc>
                <a:spcPct val="114999"/>
              </a:lnSpc>
            </a:pPr>
            <a:r>
              <a:rPr lang="en-US"/>
              <a:t>The goal is to identify factors that can lead to a person having a stroke and this can be difficult when there aren't many instances of this happening.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F3199-0E43-47A0-8CEA-838497105E8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/>
              <a:t>Solution</a:t>
            </a:r>
            <a:endParaRPr lang="en-US"/>
          </a:p>
          <a:p>
            <a:pPr>
              <a:lnSpc>
                <a:spcPct val="114999"/>
              </a:lnSpc>
            </a:pPr>
            <a:r>
              <a:rPr lang="en-US"/>
              <a:t>Apply a synthetic minority over-sampling technique (SMOTE) to the training data.</a:t>
            </a:r>
          </a:p>
          <a:p>
            <a:pPr>
              <a:lnSpc>
                <a:spcPct val="114999"/>
              </a:lnSpc>
            </a:pPr>
            <a:r>
              <a:rPr lang="en-US"/>
              <a:t>This generates synthetic samples from the minority class to obtain a class-balanced training set.</a:t>
            </a:r>
          </a:p>
          <a:p>
            <a:pPr>
              <a:lnSpc>
                <a:spcPct val="114999"/>
              </a:lnSpc>
            </a:pPr>
            <a:r>
              <a:rPr lang="en-US"/>
              <a:t>The </a:t>
            </a:r>
            <a:r>
              <a:rPr lang="en-US" err="1"/>
              <a:t>ubSMOTE</a:t>
            </a:r>
            <a:r>
              <a:rPr lang="en-US"/>
              <a:t>() function from the unbalanced library is applied on the stroke training data set and is used to train the classification algorithms.</a:t>
            </a:r>
          </a:p>
        </p:txBody>
      </p:sp>
    </p:spTree>
    <p:extLst>
      <p:ext uri="{BB962C8B-B14F-4D97-AF65-F5344CB8AC3E}">
        <p14:creationId xmlns:p14="http://schemas.microsoft.com/office/powerpoint/2010/main" val="3740719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A9CF6A97-B863-461A-A6D5-0B7E58D54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428" y="339866"/>
            <a:ext cx="5201728" cy="40108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31D966-BD9B-428E-9E4B-2DFE4422E699}"/>
              </a:ext>
            </a:extLst>
          </p:cNvPr>
          <p:cNvSpPr txBox="1"/>
          <p:nvPr/>
        </p:nvSpPr>
        <p:spPr>
          <a:xfrm>
            <a:off x="256636" y="283593"/>
            <a:ext cx="27432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FFFFFF"/>
                </a:solidFill>
              </a:rPr>
              <a:t>Decision Tree: All variables</a:t>
            </a:r>
          </a:p>
        </p:txBody>
      </p:sp>
      <p:pic>
        <p:nvPicPr>
          <p:cNvPr id="10" name="Picture 10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821DA051-90FA-41AB-AD85-560FD76EF6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93" t="17302" r="54462" b="39627"/>
          <a:stretch/>
        </p:blipFill>
        <p:spPr>
          <a:xfrm>
            <a:off x="62541" y="1285443"/>
            <a:ext cx="3817686" cy="22505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155724-1EE7-46C8-A4D3-5DDD4ED20294}"/>
              </a:ext>
            </a:extLst>
          </p:cNvPr>
          <p:cNvSpPr txBox="1"/>
          <p:nvPr/>
        </p:nvSpPr>
        <p:spPr>
          <a:xfrm>
            <a:off x="253940" y="4022605"/>
            <a:ext cx="312060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74.35% Accuracy</a:t>
            </a:r>
          </a:p>
        </p:txBody>
      </p:sp>
    </p:spTree>
    <p:extLst>
      <p:ext uri="{BB962C8B-B14F-4D97-AF65-F5344CB8AC3E}">
        <p14:creationId xmlns:p14="http://schemas.microsoft.com/office/powerpoint/2010/main" val="3914155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0FBC4-EC71-40BB-8795-691E9B260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7" y="94364"/>
            <a:ext cx="4045200" cy="1241009"/>
          </a:xfrm>
        </p:spPr>
        <p:txBody>
          <a:bodyPr/>
          <a:lstStyle/>
          <a:p>
            <a:r>
              <a:rPr lang="en-US"/>
              <a:t>Decision Tree : Age</a:t>
            </a:r>
          </a:p>
        </p:txBody>
      </p:sp>
      <p:pic>
        <p:nvPicPr>
          <p:cNvPr id="3" name="Picture 3" descr="Diagram&#10;&#10;Description automatically generated">
            <a:extLst>
              <a:ext uri="{FF2B5EF4-FFF2-40B4-BE49-F238E27FC236}">
                <a16:creationId xmlns:a16="http://schemas.microsoft.com/office/drawing/2014/main" id="{18A26B07-8C38-45BD-A9A2-DEA75F668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589" y="711673"/>
            <a:ext cx="4231256" cy="2932992"/>
          </a:xfrm>
          <a:prstGeom prst="rect">
            <a:avLst/>
          </a:prstGeom>
        </p:spPr>
      </p:pic>
      <p:pic>
        <p:nvPicPr>
          <p:cNvPr id="4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30E33C96-4B75-4768-B612-AD5FD7C9EC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17" t="19665" r="50236" b="45607"/>
          <a:stretch/>
        </p:blipFill>
        <p:spPr>
          <a:xfrm>
            <a:off x="51759" y="1380064"/>
            <a:ext cx="4472045" cy="193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443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AC39B-B561-4D51-B17C-55FA6FD20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Naïve Bayes </a:t>
            </a:r>
          </a:p>
        </p:txBody>
      </p:sp>
      <p:pic>
        <p:nvPicPr>
          <p:cNvPr id="5" name="Picture 5" descr="Chart, histogram&#10;&#10;Description automatically generated">
            <a:extLst>
              <a:ext uri="{FF2B5EF4-FFF2-40B4-BE49-F238E27FC236}">
                <a16:creationId xmlns:a16="http://schemas.microsoft.com/office/drawing/2014/main" id="{9D4433CD-DC5B-4283-83C9-C7AE8FF7D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962" y="912693"/>
            <a:ext cx="3363942" cy="40405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2F44D7-BD5E-450F-A744-CE7BA64E47A3}"/>
              </a:ext>
            </a:extLst>
          </p:cNvPr>
          <p:cNvSpPr txBox="1"/>
          <p:nvPr/>
        </p:nvSpPr>
        <p:spPr>
          <a:xfrm>
            <a:off x="310551" y="1329546"/>
            <a:ext cx="472727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stroke.nb &lt;- naiveBayes(stroke ~ ., data = train_stroke)</a:t>
            </a:r>
          </a:p>
        </p:txBody>
      </p:sp>
      <p:pic>
        <p:nvPicPr>
          <p:cNvPr id="6" name="Picture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24612396-CAC1-49DD-BA01-939C0091E7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06" t="20513" r="38663" b="56242"/>
          <a:stretch/>
        </p:blipFill>
        <p:spPr>
          <a:xfrm>
            <a:off x="353683" y="1725120"/>
            <a:ext cx="5185009" cy="12252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05C9A0-E241-46A2-9E82-2F24B7478CD2}"/>
              </a:ext>
            </a:extLst>
          </p:cNvPr>
          <p:cNvSpPr txBox="1"/>
          <p:nvPr/>
        </p:nvSpPr>
        <p:spPr>
          <a:xfrm>
            <a:off x="353683" y="3518499"/>
            <a:ext cx="27432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78.46% Accuracy for predicting the occurrence of strokes within patients.</a:t>
            </a:r>
          </a:p>
        </p:txBody>
      </p:sp>
    </p:spTree>
    <p:extLst>
      <p:ext uri="{BB962C8B-B14F-4D97-AF65-F5344CB8AC3E}">
        <p14:creationId xmlns:p14="http://schemas.microsoft.com/office/powerpoint/2010/main" val="7896354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7E8D3-7F1A-4685-9D8D-54B76A716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2220000">
            <a:off x="-328063" y="879061"/>
            <a:ext cx="3387437" cy="809689"/>
          </a:xfrm>
        </p:spPr>
        <p:txBody>
          <a:bodyPr/>
          <a:lstStyle/>
          <a:p>
            <a:r>
              <a:rPr lang="en-US" sz="3600"/>
              <a:t>RandomForest</a:t>
            </a:r>
          </a:p>
        </p:txBody>
      </p:sp>
      <p:pic>
        <p:nvPicPr>
          <p:cNvPr id="3" name="Picture 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6C977901-238D-4D9F-834E-AB7F4EFE82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73" t="15560" r="47313" b="16390"/>
          <a:stretch/>
        </p:blipFill>
        <p:spPr>
          <a:xfrm>
            <a:off x="2855344" y="538989"/>
            <a:ext cx="5404698" cy="431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0746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2FD9F-7D33-43FB-8AB7-36E1D40D6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Comparison</a:t>
            </a:r>
            <a:endParaRPr lang="en-US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061AA-6C75-43FD-BCB1-E60EF3956406}"/>
              </a:ext>
            </a:extLst>
          </p:cNvPr>
          <p:cNvSpPr>
            <a:spLocks noGrp="1"/>
          </p:cNvSpPr>
          <p:nvPr/>
        </p:nvSpPr>
        <p:spPr>
          <a:xfrm>
            <a:off x="314315" y="2836645"/>
            <a:ext cx="4010683" cy="139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/>
              <a:t>Naïve Bayes</a:t>
            </a:r>
          </a:p>
          <a:p>
            <a:pPr marL="139700" indent="0">
              <a:lnSpc>
                <a:spcPct val="114999"/>
              </a:lnSpc>
              <a:buNone/>
            </a:pPr>
            <a:r>
              <a:rPr lang="en-US"/>
              <a:t>- Model 1 (all variables): 78.46%</a:t>
            </a:r>
          </a:p>
          <a:p>
            <a:pPr marL="139700" indent="0">
              <a:lnSpc>
                <a:spcPct val="114999"/>
              </a:lnSpc>
              <a:buNone/>
            </a:pPr>
            <a:r>
              <a:rPr lang="en-US"/>
              <a:t>- Model 2 (age): 75.23%</a:t>
            </a:r>
          </a:p>
          <a:p>
            <a:pPr marL="139700" indent="0">
              <a:lnSpc>
                <a:spcPct val="114999"/>
              </a:lnSpc>
              <a:buNone/>
            </a:pPr>
            <a:r>
              <a:rPr lang="en-US"/>
              <a:t>- Model 3 (age, avg glucose, smoking status, heart disease): 76.64% 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95AA55C-59B6-45FA-9EFD-B20B0A0AF176}"/>
              </a:ext>
            </a:extLst>
          </p:cNvPr>
          <p:cNvSpPr>
            <a:spLocks noGrp="1"/>
          </p:cNvSpPr>
          <p:nvPr/>
        </p:nvSpPr>
        <p:spPr>
          <a:xfrm>
            <a:off x="325098" y="1273107"/>
            <a:ext cx="3999900" cy="120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/>
              <a:t>Decision Tree</a:t>
            </a:r>
          </a:p>
          <a:p>
            <a:pPr marL="139700" indent="0">
              <a:lnSpc>
                <a:spcPct val="114999"/>
              </a:lnSpc>
              <a:buNone/>
            </a:pPr>
            <a:r>
              <a:rPr lang="en-US"/>
              <a:t>- Model 1 (all variables): 74.35%</a:t>
            </a:r>
          </a:p>
          <a:p>
            <a:pPr marL="139700" indent="0">
              <a:lnSpc>
                <a:spcPct val="114999"/>
              </a:lnSpc>
              <a:buNone/>
            </a:pPr>
            <a:r>
              <a:rPr lang="en-US"/>
              <a:t>- Model 2 (age): 75.23%</a:t>
            </a:r>
          </a:p>
          <a:p>
            <a:pPr marL="139700" indent="0">
              <a:lnSpc>
                <a:spcPct val="114999"/>
              </a:lnSpc>
              <a:buNone/>
            </a:pPr>
            <a:r>
              <a:rPr lang="en-US"/>
              <a:t>- Model 3 (age, hypertension, </a:t>
            </a:r>
            <a:r>
              <a:rPr lang="en-US" err="1"/>
              <a:t>bmi</a:t>
            </a:r>
            <a:r>
              <a:rPr lang="en-US"/>
              <a:t>): 74.18%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5BF5F14-A05F-4B0E-AB6A-9E82FEE82872}"/>
              </a:ext>
            </a:extLst>
          </p:cNvPr>
          <p:cNvSpPr>
            <a:spLocks noGrp="1"/>
          </p:cNvSpPr>
          <p:nvPr/>
        </p:nvSpPr>
        <p:spPr>
          <a:xfrm>
            <a:off x="4789267" y="1359371"/>
            <a:ext cx="3999900" cy="192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/>
              <a:t>Random Forest</a:t>
            </a:r>
          </a:p>
          <a:p>
            <a:pPr marL="139700" indent="0">
              <a:lnSpc>
                <a:spcPct val="114999"/>
              </a:lnSpc>
              <a:buNone/>
            </a:pPr>
            <a:r>
              <a:rPr lang="en-US"/>
              <a:t>- Model 1 (all variables): 78.17%</a:t>
            </a:r>
          </a:p>
          <a:p>
            <a:pPr marL="139700" indent="0">
              <a:lnSpc>
                <a:spcPct val="114999"/>
              </a:lnSpc>
              <a:buNone/>
            </a:pPr>
            <a:r>
              <a:rPr lang="en-US"/>
              <a:t>- Model 2 (age):  75.23%</a:t>
            </a:r>
          </a:p>
          <a:p>
            <a:pPr marL="139700" indent="0">
              <a:lnSpc>
                <a:spcPct val="114999"/>
              </a:lnSpc>
              <a:buNone/>
            </a:pPr>
            <a:r>
              <a:rPr lang="en-US"/>
              <a:t>- Model 3 (6 predictors, excludes smoking status): 77.23%</a:t>
            </a:r>
          </a:p>
          <a:p>
            <a:pPr marL="139700" indent="0">
              <a:lnSpc>
                <a:spcPct val="114999"/>
              </a:lnSpc>
              <a:buNone/>
            </a:pPr>
            <a:r>
              <a:rPr lang="en-US"/>
              <a:t>- Model 4 (all variables, </a:t>
            </a:r>
            <a:r>
              <a:rPr lang="en-US" err="1"/>
              <a:t>sampSize</a:t>
            </a:r>
            <a:r>
              <a:rPr lang="en-US"/>
              <a:t> = 20, </a:t>
            </a:r>
            <a:r>
              <a:rPr lang="en-US" err="1"/>
              <a:t>ntree</a:t>
            </a:r>
            <a:r>
              <a:rPr lang="en-US"/>
              <a:t> = 20): 96.07% </a:t>
            </a:r>
          </a:p>
        </p:txBody>
      </p:sp>
    </p:spTree>
    <p:extLst>
      <p:ext uri="{BB962C8B-B14F-4D97-AF65-F5344CB8AC3E}">
        <p14:creationId xmlns:p14="http://schemas.microsoft.com/office/powerpoint/2010/main" val="26047444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7834C-EEB6-4441-8685-F49729261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Comparison 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C5ACF-CC39-4F88-B420-0A06016FE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29975"/>
            <a:ext cx="8140579" cy="3339000"/>
          </a:xfrm>
        </p:spPr>
        <p:txBody>
          <a:bodyPr/>
          <a:lstStyle/>
          <a:p>
            <a:r>
              <a:rPr lang="en-US"/>
              <a:t>The decision tree, naïve bayes, and random forest models were all very good predictors of stroke occurrence within patients. </a:t>
            </a:r>
          </a:p>
          <a:p>
            <a:pPr>
              <a:lnSpc>
                <a:spcPct val="114999"/>
              </a:lnSpc>
            </a:pPr>
            <a:r>
              <a:rPr lang="en-US"/>
              <a:t>However, random forest gave the highest level of accuracy than the other two models by stratifying the training data and using all variables used in its model.</a:t>
            </a:r>
          </a:p>
          <a:p>
            <a:pPr>
              <a:lnSpc>
                <a:spcPct val="114999"/>
              </a:lnSpc>
            </a:pPr>
            <a:r>
              <a:rPr lang="en-US"/>
              <a:t>Decision tree model produced its highest accuracy with only one predictor variable.</a:t>
            </a:r>
          </a:p>
          <a:p>
            <a:pPr>
              <a:lnSpc>
                <a:spcPct val="114999"/>
              </a:lnSpc>
            </a:pPr>
            <a:r>
              <a:rPr lang="en-US"/>
              <a:t>Naïve Bayes performed its best when using all seven predictors in its model.</a:t>
            </a:r>
          </a:p>
        </p:txBody>
      </p:sp>
    </p:spTree>
    <p:extLst>
      <p:ext uri="{BB962C8B-B14F-4D97-AF65-F5344CB8AC3E}">
        <p14:creationId xmlns:p14="http://schemas.microsoft.com/office/powerpoint/2010/main" val="19264526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8C9D0-4184-4883-9F32-381FC2026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97" y="1289705"/>
            <a:ext cx="8222100" cy="838800"/>
          </a:xfrm>
        </p:spPr>
        <p:txBody>
          <a:bodyPr/>
          <a:lstStyle/>
          <a:p>
            <a:r>
              <a:rPr lang="en-US"/>
              <a:t>Questions?</a:t>
            </a:r>
          </a:p>
        </p:txBody>
      </p:sp>
      <p:pic>
        <p:nvPicPr>
          <p:cNvPr id="3" name="Picture 3" descr="A picture containing text, device&#10;&#10;Description automatically generated">
            <a:extLst>
              <a:ext uri="{FF2B5EF4-FFF2-40B4-BE49-F238E27FC236}">
                <a16:creationId xmlns:a16="http://schemas.microsoft.com/office/drawing/2014/main" id="{197F5015-9DAE-4394-863C-209541E129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863404" y="2421710"/>
            <a:ext cx="5427974" cy="215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949160"/>
      </p:ext>
    </p:extLst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B623C31502524EBCEAA734814AE1FC" ma:contentTypeVersion="7" ma:contentTypeDescription="Create a new document." ma:contentTypeScope="" ma:versionID="65551b5bd564f6c0eb1b719584a2a07b">
  <xsd:schema xmlns:xsd="http://www.w3.org/2001/XMLSchema" xmlns:xs="http://www.w3.org/2001/XMLSchema" xmlns:p="http://schemas.microsoft.com/office/2006/metadata/properties" xmlns:ns3="744c0eb1-5b4a-4043-9580-2548ef2b7e4f" xmlns:ns4="42b42fa3-bc9d-470a-85d6-f2915a8854f2" targetNamespace="http://schemas.microsoft.com/office/2006/metadata/properties" ma:root="true" ma:fieldsID="1f37991144bd8881e6a623cc1af963db" ns3:_="" ns4:_="">
    <xsd:import namespace="744c0eb1-5b4a-4043-9580-2548ef2b7e4f"/>
    <xsd:import namespace="42b42fa3-bc9d-470a-85d6-f2915a8854f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4c0eb1-5b4a-4043-9580-2548ef2b7e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b42fa3-bc9d-470a-85d6-f2915a8854f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EEB198A-95A7-46E8-8473-BE6F42E83E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0D3117-EAF7-4AEE-B3A5-1C96DCF68DE4}">
  <ds:schemaRefs>
    <ds:schemaRef ds:uri="42b42fa3-bc9d-470a-85d6-f2915a8854f2"/>
    <ds:schemaRef ds:uri="744c0eb1-5b4a-4043-9580-2548ef2b7e4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B3B6054-B3A3-4646-83D9-B96D54924A02}">
  <ds:schemaRefs>
    <ds:schemaRef ds:uri="42b42fa3-bc9d-470a-85d6-f2915a8854f2"/>
    <ds:schemaRef ds:uri="744c0eb1-5b4a-4043-9580-2548ef2b7e4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1080</Words>
  <Application>Microsoft Office PowerPoint</Application>
  <PresentationFormat>On-screen Show (16:9)</PresentationFormat>
  <Paragraphs>125</Paragraphs>
  <Slides>29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Roboto</vt:lpstr>
      <vt:lpstr>Arial</vt:lpstr>
      <vt:lpstr>Calibri</vt:lpstr>
      <vt:lpstr>Wingdings</vt:lpstr>
      <vt:lpstr>Geometric</vt:lpstr>
      <vt:lpstr>2021 Stroke Prediction </vt:lpstr>
      <vt:lpstr>Background </vt:lpstr>
      <vt:lpstr>PowerPoint Presentation</vt:lpstr>
      <vt:lpstr>Motivation </vt:lpstr>
      <vt:lpstr>Problem Statement</vt:lpstr>
      <vt:lpstr>Data</vt:lpstr>
      <vt:lpstr>PowerPoint Presentation</vt:lpstr>
      <vt:lpstr>Data Cleaning </vt:lpstr>
      <vt:lpstr>PowerPoint Presentation</vt:lpstr>
      <vt:lpstr>Initial Results from EDA</vt:lpstr>
      <vt:lpstr>Target Variable</vt:lpstr>
      <vt:lpstr>Results from EDA</vt:lpstr>
      <vt:lpstr>Results from EDA</vt:lpstr>
      <vt:lpstr>Results from EDA</vt:lpstr>
      <vt:lpstr>Count by heart disease, glucose level, and body mass index</vt:lpstr>
      <vt:lpstr>Correlation Analysis using the cleaned dataset</vt:lpstr>
      <vt:lpstr>Average Glucose</vt:lpstr>
      <vt:lpstr>Models and Analysis</vt:lpstr>
      <vt:lpstr>Association Rule Mining</vt:lpstr>
      <vt:lpstr>ARIMA Rules</vt:lpstr>
      <vt:lpstr>Association Rule Mining </vt:lpstr>
      <vt:lpstr>Challenges</vt:lpstr>
      <vt:lpstr>PowerPoint Presentation</vt:lpstr>
      <vt:lpstr>Decision Tree : Age</vt:lpstr>
      <vt:lpstr>Naïve Bayes </vt:lpstr>
      <vt:lpstr>RandomForest</vt:lpstr>
      <vt:lpstr>Model Comparison</vt:lpstr>
      <vt:lpstr>Model Comparison 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2021 Stroke Prediction </dc:title>
  <cp:lastModifiedBy>Glory Onyeugbo</cp:lastModifiedBy>
  <cp:revision>50</cp:revision>
  <dcterms:modified xsi:type="dcterms:W3CDTF">2024-06-04T02:20:58Z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0x01010051B623C31502524EBCEAA734814AE1FC</vt:lpwstr>
  </property>
</Properties>
</file>